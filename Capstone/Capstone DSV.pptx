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9" r:id="rId10"/>
    <p:sldId id="270" r:id="rId11"/>
    <p:sldId id="271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912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442E-6F0C-CA32-17CE-301D28AE4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9CE68-7488-44F3-A0C2-FFD75AD9E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53EC6-19DB-87B4-0A50-CA51CAE2A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EA49E-FFDD-31CD-4A89-BEE80D03E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42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0.png" /><Relationship Id="rId4" Type="http://schemas.openxmlformats.org/officeDocument/2006/relationships/image" Target="../media/image3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stone/assets/logo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11430000" cy="1472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48840"/>
            <a:ext cx="11064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NETWORK INTRUSION DETECTION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VISUALIZATION DASHBOARD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dashboard that turns raw network data into easy-to-read charts, so security teams can quickly spot attacks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40080" y="5074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4681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S.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Senthilvadivu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0" y="4983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3680" y="53766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/>
              <a:t>Surya JK (192324285)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/>
              <a:t>Akash S (192324298)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/>
              <a:t>Jaana Nithish (192324275)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stone/assets/logo_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3" name="Image 1" descr="/home/claude/capstone/assets/logo_simats_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3200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Introduction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85800" y="155448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network keeps a record (a "log") of all the traffic passing through it. Hidden inside these huge logs are a few malicious connections — but they are hard to spot.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Attacks come in different forms: some flood the network, some try to sneak in, and some try to steal higher access. Each type behaves a little differently.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NSL-KDD dataset used here has thousands of network connections with many columns of data — too much for a person to read row by row.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project builds a dashboard that turns that raw data into simple charts, so anyone can quickly see what is normal traffic and what looks suspicious.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12BEE-7972-C98C-731B-74730C4C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stone/assets/logo_se.png">
            <a:extLst>
              <a:ext uri="{FF2B5EF4-FFF2-40B4-BE49-F238E27FC236}">
                <a16:creationId xmlns:a16="http://schemas.microsoft.com/office/drawing/2014/main" id="{67AD6DD0-55CA-5811-0297-1854F1A81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3" name="Image 1" descr="/home/claude/capstone/assets/logo_simats_seal.png">
            <a:extLst>
              <a:ext uri="{FF2B5EF4-FFF2-40B4-BE49-F238E27FC236}">
                <a16:creationId xmlns:a16="http://schemas.microsoft.com/office/drawing/2014/main" id="{145E80AC-B1C9-3753-771E-C6AAAA3F5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1C782EC-C1F1-245C-8C23-8179D831FC77}"/>
              </a:ext>
            </a:extLst>
          </p:cNvPr>
          <p:cNvSpPr/>
          <p:nvPr/>
        </p:nvSpPr>
        <p:spPr>
          <a:xfrm>
            <a:off x="1005840" y="3200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747FC46-77A8-520F-A80C-A257A64B8E3A}"/>
              </a:ext>
            </a:extLst>
          </p:cNvPr>
          <p:cNvSpPr/>
          <p:nvPr/>
        </p:nvSpPr>
        <p:spPr>
          <a:xfrm>
            <a:off x="685800" y="155448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438C59-2741-FEBC-B019-B24A6F323FA8}"/>
              </a:ext>
            </a:extLst>
          </p:cNvPr>
          <p:cNvSpPr txBox="1"/>
          <p:nvPr/>
        </p:nvSpPr>
        <p:spPr>
          <a:xfrm>
            <a:off x="3672723" y="1005840"/>
            <a:ext cx="484655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research foundations supporting the proposed 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99A3FC-8B4C-C6FA-92DE-2E4ED33C4E54}"/>
              </a:ext>
            </a:extLst>
          </p:cNvPr>
          <p:cNvSpPr/>
          <p:nvPr/>
        </p:nvSpPr>
        <p:spPr>
          <a:xfrm>
            <a:off x="640080" y="1371600"/>
            <a:ext cx="27432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/ Resource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91BCA9-99EA-EB97-6542-59FADF8E6327}"/>
              </a:ext>
            </a:extLst>
          </p:cNvPr>
          <p:cNvSpPr/>
          <p:nvPr/>
        </p:nvSpPr>
        <p:spPr>
          <a:xfrm>
            <a:off x="3383280" y="1371600"/>
            <a:ext cx="43891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9398F5-4FA8-4A79-A3CA-49D0F90B94F7}"/>
              </a:ext>
            </a:extLst>
          </p:cNvPr>
          <p:cNvSpPr/>
          <p:nvPr/>
        </p:nvSpPr>
        <p:spPr>
          <a:xfrm>
            <a:off x="7772400" y="1371600"/>
            <a:ext cx="36576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/ Relevance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8A1725-2517-C0EE-5D7A-900BC2D543A8}"/>
              </a:ext>
            </a:extLst>
          </p:cNvPr>
          <p:cNvSpPr/>
          <p:nvPr/>
        </p:nvSpPr>
        <p:spPr>
          <a:xfrm>
            <a:off x="640080" y="1874519"/>
            <a:ext cx="2743200" cy="8046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Tavallaee</a:t>
            </a:r>
            <a:r>
              <a:rPr sz="14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 (2009) – NSL-KDD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B620A6-82C5-CC5B-47BE-E7CBC7064508}"/>
              </a:ext>
            </a:extLst>
          </p:cNvPr>
          <p:cNvSpPr/>
          <p:nvPr/>
        </p:nvSpPr>
        <p:spPr>
          <a:xfrm>
            <a:off x="3383280" y="1874519"/>
            <a:ext cx="4389120" cy="8046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benchmark derived from KDD’99 for intrusion-detection research.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AEC7E9-D77A-C57A-4D38-3B80AE87A09F}"/>
              </a:ext>
            </a:extLst>
          </p:cNvPr>
          <p:cNvSpPr/>
          <p:nvPr/>
        </p:nvSpPr>
        <p:spPr>
          <a:xfrm>
            <a:off x="7772400" y="1874519"/>
            <a:ext cx="3657600" cy="8046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project’s standardized network-traffic dataset.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D3144F-4957-8126-3346-CCDCEA5EB794}"/>
              </a:ext>
            </a:extLst>
          </p:cNvPr>
          <p:cNvSpPr/>
          <p:nvPr/>
        </p:nvSpPr>
        <p:spPr>
          <a:xfrm>
            <a:off x="640080" y="2679191"/>
            <a:ext cx="2743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Lakhina</a:t>
            </a:r>
            <a:r>
              <a:rPr sz="14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 (2004) – Network traffic anomaly detection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E5F259-BBEA-D4A0-59A6-D93D5CD08937}"/>
              </a:ext>
            </a:extLst>
          </p:cNvPr>
          <p:cNvSpPr/>
          <p:nvPr/>
        </p:nvSpPr>
        <p:spPr>
          <a:xfrm>
            <a:off x="3383280" y="2679191"/>
            <a:ext cx="43891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Explored traffic distributions and anomaly detection using network measurements.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9886BB-7F8D-348D-91BE-FB85881DE5E1}"/>
              </a:ext>
            </a:extLst>
          </p:cNvPr>
          <p:cNvSpPr/>
          <p:nvPr/>
        </p:nvSpPr>
        <p:spPr>
          <a:xfrm>
            <a:off x="7772400" y="2679191"/>
            <a:ext cx="36576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Motivates distribution and relationship visualization.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9FBF10-7542-B808-90F6-6DDA2E972B63}"/>
              </a:ext>
            </a:extLst>
          </p:cNvPr>
          <p:cNvSpPr/>
          <p:nvPr/>
        </p:nvSpPr>
        <p:spPr>
          <a:xfrm>
            <a:off x="640080" y="3483863"/>
            <a:ext cx="2743200" cy="8046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Breiman (1996) – Bagging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F89E1A-2D47-C3C8-1D52-B5B8A65AA223}"/>
              </a:ext>
            </a:extLst>
          </p:cNvPr>
          <p:cNvSpPr/>
          <p:nvPr/>
        </p:nvSpPr>
        <p:spPr>
          <a:xfrm>
            <a:off x="3383280" y="3483863"/>
            <a:ext cx="4389120" cy="8046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Introduced bootstrap aggregation and demonstrated bootstrap-based sampling ideas.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E0FE21-64BD-9A19-6706-400A67090715}"/>
              </a:ext>
            </a:extLst>
          </p:cNvPr>
          <p:cNvSpPr/>
          <p:nvPr/>
        </p:nvSpPr>
        <p:spPr>
          <a:xfrm>
            <a:off x="7772400" y="3483863"/>
            <a:ext cx="3657600" cy="8046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resampling concepts used for uncertainty estimation.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F9BFE0-F22E-1787-A8D1-D9069CD43EAE}"/>
              </a:ext>
            </a:extLst>
          </p:cNvPr>
          <p:cNvSpPr/>
          <p:nvPr/>
        </p:nvSpPr>
        <p:spPr>
          <a:xfrm>
            <a:off x="640080" y="4288536"/>
            <a:ext cx="2743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Efron &amp; Tibshirani (1993) – Bootstrap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A37CC7-921F-018D-59E0-84D95C2D643C}"/>
              </a:ext>
            </a:extLst>
          </p:cNvPr>
          <p:cNvSpPr/>
          <p:nvPr/>
        </p:nvSpPr>
        <p:spPr>
          <a:xfrm>
            <a:off x="3383280" y="4288536"/>
            <a:ext cx="43891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 bootstrap methods for estimating sampling distributions and confidence intervals.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A9648A-591C-3983-2EEA-A3978834A18B}"/>
              </a:ext>
            </a:extLst>
          </p:cNvPr>
          <p:cNvSpPr/>
          <p:nvPr/>
        </p:nvSpPr>
        <p:spPr>
          <a:xfrm>
            <a:off x="7772400" y="4288536"/>
            <a:ext cx="36576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Basis for uncertainty-bounded anomaly-rate estimates.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81EE78E-36B7-64CC-1367-7C53753BD7BC}"/>
              </a:ext>
            </a:extLst>
          </p:cNvPr>
          <p:cNvSpPr/>
          <p:nvPr/>
        </p:nvSpPr>
        <p:spPr>
          <a:xfrm>
            <a:off x="640080" y="5093208"/>
            <a:ext cx="2743200" cy="8046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Pedregosa et al. (2011) – Scikit-learn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BD28AA-9503-629C-3ADB-AF28E373AA1B}"/>
              </a:ext>
            </a:extLst>
          </p:cNvPr>
          <p:cNvSpPr/>
          <p:nvPr/>
        </p:nvSpPr>
        <p:spPr>
          <a:xfrm>
            <a:off x="3383280" y="5093208"/>
            <a:ext cx="4389120" cy="8046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a widely used Python machine-learning toolkit.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AE4B0A-D1D7-5FD0-3392-3F02B19F2EB5}"/>
              </a:ext>
            </a:extLst>
          </p:cNvPr>
          <p:cNvSpPr/>
          <p:nvPr/>
        </p:nvSpPr>
        <p:spPr>
          <a:xfrm>
            <a:off x="7772400" y="5093208"/>
            <a:ext cx="3657600" cy="8046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preprocessing, scaling, encoding, and feature workflows.</a:t>
            </a:r>
          </a:p>
        </p:txBody>
      </p:sp>
    </p:spTree>
    <p:extLst>
      <p:ext uri="{BB962C8B-B14F-4D97-AF65-F5344CB8AC3E}">
        <p14:creationId xmlns:p14="http://schemas.microsoft.com/office/powerpoint/2010/main" val="3294141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stone/assets/logo_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3" name="Image 1" descr="/home/claude/capstone/assets/logo_simats_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3200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Problem Statement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85800" y="155448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 logs are huge, and real attacks are rare — like finding a few odd items in a massive pile, which makes them easy to miss.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Important details like packet count or connection time are rarely looked at as pictures/graphs, so unusual values go unnoticed.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is hard to tell at a glance which attack type (DoS, Probe, R2L, U2R) is the biggest problem right now.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When we say "X% of traffic looks abnormal," there is no way to know how sure or unsure that number really 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 rarely compare two traffic features together, so patterns that only show up when features are combined get missed.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stone/assets/logo_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3" name="Image 1" descr="/home/claude/capstone/assets/logo_simats_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3200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Objectives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85800" y="155448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 and prepare the NSL-KDD network data so it is ready to analyse (using Pandas and Scikit-learn).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Show how each traffic feature is spread out, using histograms and ECDF graphs.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Show which attack types are most common, using pie charts and stacked bar charts.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Show how two traffic features relate to each other, using hexbin plots and scatterplots.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Calculate the anomaly rate along with a confidence range, so we know how trustworthy the number 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Bring all of this together into one easy-to-read dashboard for security teams.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stone/assets/logo_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3" name="Image 1" descr="/home/claude/capstone/assets/logo_simats_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56032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Module 1: Network Traffic Log Preprocessing &amp; Feature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Cleaning the raw data and preparing it for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85800" y="187452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Loads the raw NSL-KDD traffic log and fixes problems in it — missing values, text fields like protocol type, and numbers on very different scales.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Pandas to clean the data and Scikit-learn to convert it into a format that is ready for analysis.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Draws histograms and ECDF graphs to show how each feature (like duration or packet count) is spread out, and to spot unusual values.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columns used: source/destination IP, protocol, attack type, packet count, connection duration, and anomaly score.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stone/assets/logo_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3" name="Image 1" descr="/home/claude/capstone/assets/logo_simats_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56032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Module 2: Intrusion Type Distribution &amp; Proportion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Showing which attack types occur the most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85800" y="187452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Counts how many connections belong to each attack type — DoS, Probe, R2L, U2R — compared to normal traffic.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pie chart shows this split at a glance, so anyone can see the biggest threat category immediately.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stacked bar chart shows the same split, but broken down by protocol, so analysts can see which service is most attacked.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Seaborn is used to make these charts clear and easy to read.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stone/assets/logo_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3" name="Image 1" descr="/home/claude/capstone/assets/logo_simats_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56032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Module 3: Traffic Relationship &amp; Anomaly Uncertainty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Comparing features together and measuring how reliable the results are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85800" y="187452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Compares two traffic features at once (for example, connection duration vs. bytes transferred) using hexbin and scatter plots.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makes it easy to see where attack traffic clearly separates from normal traffic.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a technique called bootstrapping — repeatedly resampling the data — to estimate the anomaly rate many times.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From this, a confidence interval is calculated, so we know not just the anomaly rate but also how much to trust it.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B7EFF-2A0F-A966-64DE-D425FE4E9654}"/>
              </a:ext>
            </a:extLst>
          </p:cNvPr>
          <p:cNvSpPr txBox="1"/>
          <p:nvPr/>
        </p:nvSpPr>
        <p:spPr>
          <a:xfrm>
            <a:off x="1192085" y="-233930"/>
            <a:ext cx="9795638" cy="11143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2AE13C-70CB-AF89-4B45-B189B845A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515219"/>
            <a:ext cx="6096001" cy="49832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E39E1F-508A-C996-8E48-1F073428D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0068"/>
            <a:ext cx="6096001" cy="4978392"/>
          </a:xfrm>
          <a:prstGeom prst="rect">
            <a:avLst/>
          </a:prstGeom>
        </p:spPr>
      </p:pic>
      <p:pic>
        <p:nvPicPr>
          <p:cNvPr id="3" name="Image 0" descr="/home/claude/capstone/assets/logo_se.png">
            <a:extLst>
              <a:ext uri="{FF2B5EF4-FFF2-40B4-BE49-F238E27FC236}">
                <a16:creationId xmlns:a16="http://schemas.microsoft.com/office/drawing/2014/main" id="{8C132A34-D479-B5B5-7B57-F0D2D9697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5" name="Image 1" descr="/home/claude/capstone/assets/logo_simats_seal.png">
            <a:extLst>
              <a:ext uri="{FF2B5EF4-FFF2-40B4-BE49-F238E27FC236}">
                <a16:creationId xmlns:a16="http://schemas.microsoft.com/office/drawing/2014/main" id="{650CD9E6-F409-46E8-68AC-AEF601F39D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242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2959F-E2FC-F262-DE30-08270B873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B8148-2232-E044-9687-15F1E22A50A7}"/>
              </a:ext>
            </a:extLst>
          </p:cNvPr>
          <p:cNvSpPr txBox="1"/>
          <p:nvPr/>
        </p:nvSpPr>
        <p:spPr>
          <a:xfrm>
            <a:off x="1192085" y="-256876"/>
            <a:ext cx="9795638" cy="11143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EFFE4E-491E-417F-BC39-B518932E9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5261"/>
            <a:ext cx="6095999" cy="46287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333089-9402-A8D0-6921-5092844EE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675261"/>
            <a:ext cx="6092951" cy="4628780"/>
          </a:xfrm>
          <a:prstGeom prst="rect">
            <a:avLst/>
          </a:prstGeom>
        </p:spPr>
      </p:pic>
      <p:pic>
        <p:nvPicPr>
          <p:cNvPr id="3" name="Image 0" descr="/home/claude/capstone/assets/logo_se.png">
            <a:extLst>
              <a:ext uri="{FF2B5EF4-FFF2-40B4-BE49-F238E27FC236}">
                <a16:creationId xmlns:a16="http://schemas.microsoft.com/office/drawing/2014/main" id="{D88210DE-1AD4-1C52-94BB-35BDAA003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5" name="Image 1" descr="/home/claude/capstone/assets/logo_simats_seal.png">
            <a:extLst>
              <a:ext uri="{FF2B5EF4-FFF2-40B4-BE49-F238E27FC236}">
                <a16:creationId xmlns:a16="http://schemas.microsoft.com/office/drawing/2014/main" id="{716B361D-EA63-DDF8-D0A9-518EFCA2F5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5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83757-B1E6-F0DD-39E2-70D1AC69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36108A4-C09A-8267-1DA7-2BC3E7B96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106364-174F-E3E4-C151-30A5C45FB842}"/>
              </a:ext>
            </a:extLst>
          </p:cNvPr>
          <p:cNvSpPr txBox="1"/>
          <p:nvPr/>
        </p:nvSpPr>
        <p:spPr>
          <a:xfrm>
            <a:off x="1192085" y="-256876"/>
            <a:ext cx="9795638" cy="11143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9A58C5-0D87-23C2-35AC-A6F0DFC42F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670179"/>
            <a:ext cx="6092951" cy="43760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0FA28D-9DEE-287E-44A8-9C16B9E32E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5999" y="1670179"/>
            <a:ext cx="6092951" cy="4376057"/>
          </a:xfrm>
          <a:prstGeom prst="rect">
            <a:avLst/>
          </a:prstGeom>
        </p:spPr>
      </p:pic>
      <p:pic>
        <p:nvPicPr>
          <p:cNvPr id="3" name="Image 0" descr="/home/claude/capstone/assets/logo_se.png">
            <a:extLst>
              <a:ext uri="{FF2B5EF4-FFF2-40B4-BE49-F238E27FC236}">
                <a16:creationId xmlns:a16="http://schemas.microsoft.com/office/drawing/2014/main" id="{84A68A5A-DD40-63C5-ACDA-7E50ED6E4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5" name="Image 1" descr="/home/claude/capstone/assets/logo_simats_seal.png">
            <a:extLst>
              <a:ext uri="{FF2B5EF4-FFF2-40B4-BE49-F238E27FC236}">
                <a16:creationId xmlns:a16="http://schemas.microsoft.com/office/drawing/2014/main" id="{9E0DFF47-2A10-E7C8-9A18-9A444D4B7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23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stone/assets/logo_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3" name="Image 1" descr="/home/claude/capstone/assets/logo_simats_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3200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Dashboard Works (Architecture)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team looks at the dashboard to decide what to check first, and their feedback helps improve the data preparation step over time.</a:t>
            </a:r>
            <a:endParaRPr lang="en-US" sz="1200" dirty="0"/>
          </a:p>
        </p:txBody>
      </p:sp>
      <p:pic>
        <p:nvPicPr>
          <p:cNvPr id="26" name="Picture 25" descr="diagram_detail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1085" y="1000000"/>
            <a:ext cx="8389830" cy="495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stone/assets/logo_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3" name="Image 1" descr="/home/claude/capstone/assets/logo_simats_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3200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Future Scope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85800" y="155448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Connect the dashboard to live network traffic instead of a fixed dataset, so it can monitor in real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machine learning models to help catch anomalies that simple statistics might miss.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Automatically rank alerts by how serious and how certain they are, so the most urgent ones show up first.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the system on other datasets and real company network data, not just NSL-KDD.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a feature that explains *why* a connection was flagged, not just that it was flagged.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Turn the dashboard into a website that security teams can log into and use directly.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stone/assets/logo_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3" name="Image 1" descr="/home/claude/capstone/assets/logo_simats_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3200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85800" y="155448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project takes raw, messy network data and turns it into a simple, three-step dashboard: clean the data, show attack patterns, and compare features with confidence levels.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makes it easy for anyone — not just experts — to see which attacks are common and which traffic looks suspicious.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Instead of just saying "X% looks abnormal," the dashboard also shows how confident we can be in that number.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project shows practical, hands-on use of Pandas, Scikit-learn, and Seaborn to solve a real security problem.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 steps include real-time monitoring, smarter detection with machine learning, and making it available as a web tool.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stone/assets/logo_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749808"/>
          </a:xfrm>
          <a:prstGeom prst="rect">
            <a:avLst/>
          </a:prstGeom>
        </p:spPr>
      </p:pic>
      <p:pic>
        <p:nvPicPr>
          <p:cNvPr id="3" name="Image 1" descr="/home/claude/capstone/assets/logo_simats_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25603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3200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References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92480" y="1422918"/>
            <a:ext cx="10607040" cy="5001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Tavallaee, M., Bagheri, E., Lu, W., &amp; Ghorbani, A. A. (2009). A Detailed Analysis of the KDD CUP 99 Data Set. IEEE CISDA.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NSL-KDD Dataset — Canadian Institute for Cybersecurity, University of New Brunswick.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Pedregosa, F., et al. (2011). Scikit-learn: Machine Learning in Python. JMLR, 12, 2825-2830.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McKinney, W. (2010). Data Structures for Statistical Computing in Python (pandas). Proc. 9th Python in Science Conf.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Waskom, M. L. (2021). seaborn: statistical data visualization. Journal of Open Source Software, 6(60), 3021.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Efron, B., &amp; Tibshirani, R. J. (1994). An Introduction to the Bootstrap. Chapman &amp; Hall/CRC.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Course Reference Units III-V: Distribution Plots, Relationship Plots, and Bootstrapping &amp; Confidence Intervals.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206240" y="2103120"/>
            <a:ext cx="7498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</a:t>
            </a:r>
            <a:endParaRPr lang="en-US" sz="6000" dirty="0"/>
          </a:p>
          <a:p>
            <a:pPr marL="0" indent="0">
              <a:buNone/>
            </a:pPr>
            <a:r>
              <a:rPr lang="en-US" sz="60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you!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1312</Words>
  <Application>Microsoft Office PowerPoint</Application>
  <PresentationFormat>Widescreen</PresentationFormat>
  <Paragraphs>106</Paragraphs>
  <Slides>16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jksurya06@gmail.com</cp:lastModifiedBy>
  <cp:revision>4</cp:revision>
  <dcterms:created xsi:type="dcterms:W3CDTF">2026-08-24T03:17:43Z</dcterms:created>
  <dcterms:modified xsi:type="dcterms:W3CDTF">2026-08-28T14:44:04Z</dcterms:modified>
</cp:coreProperties>
</file>